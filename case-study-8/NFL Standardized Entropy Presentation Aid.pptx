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4" d="100"/>
          <a:sy n="74" d="100"/>
        </p:scale>
        <p:origin x="998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Chapman" userId="c6648ea13a4819e1" providerId="LiveId" clId="{BF9EC2D8-1460-441A-9732-E6910D3CE5BB}"/>
    <pc:docChg chg="undo custSel addSld delSld modSld">
      <pc:chgData name="Peter Chapman" userId="c6648ea13a4819e1" providerId="LiveId" clId="{BF9EC2D8-1460-441A-9732-E6910D3CE5BB}" dt="2025-11-01T03:57:46.437" v="3677" actId="20577"/>
      <pc:docMkLst>
        <pc:docMk/>
      </pc:docMkLst>
      <pc:sldChg chg="modSp new mod">
        <pc:chgData name="Peter Chapman" userId="c6648ea13a4819e1" providerId="LiveId" clId="{BF9EC2D8-1460-441A-9732-E6910D3CE5BB}" dt="2025-10-28T04:27:17.832" v="236" actId="1076"/>
        <pc:sldMkLst>
          <pc:docMk/>
          <pc:sldMk cId="1197792888" sldId="256"/>
        </pc:sldMkLst>
        <pc:spChg chg="mod">
          <ac:chgData name="Peter Chapman" userId="c6648ea13a4819e1" providerId="LiveId" clId="{BF9EC2D8-1460-441A-9732-E6910D3CE5BB}" dt="2025-10-28T04:27:09.604" v="235" actId="1076"/>
          <ac:spMkLst>
            <pc:docMk/>
            <pc:sldMk cId="1197792888" sldId="256"/>
            <ac:spMk id="2" creationId="{A71E379C-B771-E511-F7C4-E11892F28ED0}"/>
          </ac:spMkLst>
        </pc:spChg>
        <pc:spChg chg="mod">
          <ac:chgData name="Peter Chapman" userId="c6648ea13a4819e1" providerId="LiveId" clId="{BF9EC2D8-1460-441A-9732-E6910D3CE5BB}" dt="2025-10-28T04:27:17.832" v="236" actId="1076"/>
          <ac:spMkLst>
            <pc:docMk/>
            <pc:sldMk cId="1197792888" sldId="256"/>
            <ac:spMk id="3" creationId="{5E9FD3CC-9705-53D5-34E4-FCE18039BCDF}"/>
          </ac:spMkLst>
        </pc:spChg>
      </pc:sldChg>
      <pc:sldChg chg="modSp new mod">
        <pc:chgData name="Peter Chapman" userId="c6648ea13a4819e1" providerId="LiveId" clId="{BF9EC2D8-1460-441A-9732-E6910D3CE5BB}" dt="2025-10-28T05:02:22.730" v="723" actId="1076"/>
        <pc:sldMkLst>
          <pc:docMk/>
          <pc:sldMk cId="1494160101" sldId="257"/>
        </pc:sldMkLst>
        <pc:spChg chg="mod">
          <ac:chgData name="Peter Chapman" userId="c6648ea13a4819e1" providerId="LiveId" clId="{BF9EC2D8-1460-441A-9732-E6910D3CE5BB}" dt="2025-10-28T04:49:06.688" v="634" actId="1076"/>
          <ac:spMkLst>
            <pc:docMk/>
            <pc:sldMk cId="1494160101" sldId="257"/>
            <ac:spMk id="2" creationId="{16A421BC-0160-CAE8-3806-FCDC2332BBA8}"/>
          </ac:spMkLst>
        </pc:spChg>
        <pc:spChg chg="mod">
          <ac:chgData name="Peter Chapman" userId="c6648ea13a4819e1" providerId="LiveId" clId="{BF9EC2D8-1460-441A-9732-E6910D3CE5BB}" dt="2025-10-28T05:02:22.730" v="723" actId="1076"/>
          <ac:spMkLst>
            <pc:docMk/>
            <pc:sldMk cId="1494160101" sldId="257"/>
            <ac:spMk id="3" creationId="{37241963-546B-71A8-0A9B-8F4FEE7637F6}"/>
          </ac:spMkLst>
        </pc:spChg>
      </pc:sldChg>
      <pc:sldChg chg="new del">
        <pc:chgData name="Peter Chapman" userId="c6648ea13a4819e1" providerId="LiveId" clId="{BF9EC2D8-1460-441A-9732-E6910D3CE5BB}" dt="2025-10-28T04:25:27.658" v="157" actId="680"/>
        <pc:sldMkLst>
          <pc:docMk/>
          <pc:sldMk cId="3415254895" sldId="257"/>
        </pc:sldMkLst>
      </pc:sldChg>
      <pc:sldChg chg="new del">
        <pc:chgData name="Peter Chapman" userId="c6648ea13a4819e1" providerId="LiveId" clId="{BF9EC2D8-1460-441A-9732-E6910D3CE5BB}" dt="2025-10-28T04:46:23.730" v="576" actId="2696"/>
        <pc:sldMkLst>
          <pc:docMk/>
          <pc:sldMk cId="190676030" sldId="258"/>
        </pc:sldMkLst>
      </pc:sldChg>
      <pc:sldChg chg="addSp delSp modSp new mod">
        <pc:chgData name="Peter Chapman" userId="c6648ea13a4819e1" providerId="LiveId" clId="{BF9EC2D8-1460-441A-9732-E6910D3CE5BB}" dt="2025-10-28T04:57:00.301" v="644" actId="1076"/>
        <pc:sldMkLst>
          <pc:docMk/>
          <pc:sldMk cId="863164773" sldId="258"/>
        </pc:sldMkLst>
        <pc:spChg chg="mod">
          <ac:chgData name="Peter Chapman" userId="c6648ea13a4819e1" providerId="LiveId" clId="{BF9EC2D8-1460-441A-9732-E6910D3CE5BB}" dt="2025-10-28T04:56:25.585" v="641" actId="1076"/>
          <ac:spMkLst>
            <pc:docMk/>
            <pc:sldMk cId="863164773" sldId="258"/>
            <ac:spMk id="2" creationId="{E0907EF2-6853-E227-99D5-D2AC49C45517}"/>
          </ac:spMkLst>
        </pc:spChg>
        <pc:picChg chg="add mod">
          <ac:chgData name="Peter Chapman" userId="c6648ea13a4819e1" providerId="LiveId" clId="{BF9EC2D8-1460-441A-9732-E6910D3CE5BB}" dt="2025-10-28T04:57:00.301" v="644" actId="1076"/>
          <ac:picMkLst>
            <pc:docMk/>
            <pc:sldMk cId="863164773" sldId="258"/>
            <ac:picMk id="5" creationId="{11F0711E-71BF-AC4D-5879-A688FFB34812}"/>
          </ac:picMkLst>
        </pc:picChg>
      </pc:sldChg>
      <pc:sldChg chg="addSp delSp modSp new mod setBg">
        <pc:chgData name="Peter Chapman" userId="c6648ea13a4819e1" providerId="LiveId" clId="{BF9EC2D8-1460-441A-9732-E6910D3CE5BB}" dt="2025-11-01T03:53:48.425" v="3404" actId="20577"/>
        <pc:sldMkLst>
          <pc:docMk/>
          <pc:sldMk cId="2258594989" sldId="259"/>
        </pc:sldMkLst>
        <pc:spChg chg="mod">
          <ac:chgData name="Peter Chapman" userId="c6648ea13a4819e1" providerId="LiveId" clId="{BF9EC2D8-1460-441A-9732-E6910D3CE5BB}" dt="2025-11-01T03:19:13.287" v="993" actId="1076"/>
          <ac:spMkLst>
            <pc:docMk/>
            <pc:sldMk cId="2258594989" sldId="259"/>
            <ac:spMk id="2" creationId="{88CEB901-DBA0-898E-0749-8EB4FE8E6817}"/>
          </ac:spMkLst>
        </pc:spChg>
        <pc:spChg chg="add del mod">
          <ac:chgData name="Peter Chapman" userId="c6648ea13a4819e1" providerId="LiveId" clId="{BF9EC2D8-1460-441A-9732-E6910D3CE5BB}" dt="2025-11-01T03:13:42.101" v="960"/>
          <ac:spMkLst>
            <pc:docMk/>
            <pc:sldMk cId="2258594989" sldId="259"/>
            <ac:spMk id="3" creationId="{7DC13FF7-F255-3D4A-6A85-97A10FD644E9}"/>
          </ac:spMkLst>
        </pc:spChg>
        <pc:spChg chg="add del mod">
          <ac:chgData name="Peter Chapman" userId="c6648ea13a4819e1" providerId="LiveId" clId="{BF9EC2D8-1460-441A-9732-E6910D3CE5BB}" dt="2025-11-01T03:13:42.101" v="962"/>
          <ac:spMkLst>
            <pc:docMk/>
            <pc:sldMk cId="2258594989" sldId="259"/>
            <ac:spMk id="6" creationId="{D7A3F8C1-7AFB-AB15-B98A-C3CF34172A40}"/>
          </ac:spMkLst>
        </pc:spChg>
        <pc:spChg chg="add del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7" creationId="{5D5E0904-721C-4D68-9EB8-1C9752E329A7}"/>
          </ac:spMkLst>
        </pc:spChg>
        <pc:spChg chg="add del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8" creationId="{B298ECBA-3258-45DF-8FD4-7581736BCCBC}"/>
          </ac:spMkLst>
        </pc:spChg>
        <pc:spChg chg="add del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9" creationId="{B62BF453-BD82-4B90-9FE7-51703133806E}"/>
          </ac:spMkLst>
        </pc:spChg>
        <pc:spChg chg="add mod">
          <ac:chgData name="Peter Chapman" userId="c6648ea13a4819e1" providerId="LiveId" clId="{BF9EC2D8-1460-441A-9732-E6910D3CE5BB}" dt="2025-11-01T03:53:48.425" v="3404" actId="20577"/>
          <ac:spMkLst>
            <pc:docMk/>
            <pc:sldMk cId="2258594989" sldId="259"/>
            <ac:spMk id="10" creationId="{D316EF1F-96BA-BEEF-B3B7-1CEF1B2149B9}"/>
          </ac:spMkLst>
        </pc:spChg>
        <pc:spChg chg="add del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11" creationId="{072366D3-9B5C-42E1-9906-77FF6BB55EAB}"/>
          </ac:spMkLst>
        </pc:spChg>
        <pc:spChg chg="add mod">
          <ac:chgData name="Peter Chapman" userId="c6648ea13a4819e1" providerId="LiveId" clId="{BF9EC2D8-1460-441A-9732-E6910D3CE5BB}" dt="2025-11-01T03:38:22.958" v="2192" actId="1076"/>
          <ac:spMkLst>
            <pc:docMk/>
            <pc:sldMk cId="2258594989" sldId="259"/>
            <ac:spMk id="12" creationId="{6BA8FEA9-C383-4E40-461F-4765AA597B2C}"/>
          </ac:spMkLst>
        </pc:spChg>
        <pc:spChg chg="add del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13" creationId="{121F5E60-4E89-4B16-A245-12BD9935998D}"/>
          </ac:spMkLst>
        </pc:spChg>
        <pc:spChg chg="add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20" creationId="{B298ECBA-3258-45DF-8FD4-7581736BCCBC}"/>
          </ac:spMkLst>
        </pc:spChg>
        <pc:spChg chg="add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22" creationId="{B62BF453-BD82-4B90-9FE7-51703133806E}"/>
          </ac:spMkLst>
        </pc:spChg>
        <pc:spChg chg="add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24" creationId="{072366D3-9B5C-42E1-9906-77FF6BB55EAB}"/>
          </ac:spMkLst>
        </pc:spChg>
        <pc:spChg chg="add">
          <ac:chgData name="Peter Chapman" userId="c6648ea13a4819e1" providerId="LiveId" clId="{BF9EC2D8-1460-441A-9732-E6910D3CE5BB}" dt="2025-11-01T03:18:59.378" v="991" actId="26606"/>
          <ac:spMkLst>
            <pc:docMk/>
            <pc:sldMk cId="2258594989" sldId="259"/>
            <ac:spMk id="26" creationId="{121F5E60-4E89-4B16-A245-12BD9935998D}"/>
          </ac:spMkLst>
        </pc:spChg>
        <pc:picChg chg="add mod">
          <ac:chgData name="Peter Chapman" userId="c6648ea13a4819e1" providerId="LiveId" clId="{BF9EC2D8-1460-441A-9732-E6910D3CE5BB}" dt="2025-10-28T05:07:05.331" v="827" actId="27614"/>
          <ac:picMkLst>
            <pc:docMk/>
            <pc:sldMk cId="2258594989" sldId="259"/>
            <ac:picMk id="5" creationId="{E6652DF5-DEF9-AF91-C118-40DEEF2FA1C1}"/>
          </ac:picMkLst>
        </pc:picChg>
      </pc:sldChg>
      <pc:sldChg chg="modSp new mod">
        <pc:chgData name="Peter Chapman" userId="c6648ea13a4819e1" providerId="LiveId" clId="{BF9EC2D8-1460-441A-9732-E6910D3CE5BB}" dt="2025-11-01T03:57:46.437" v="3677" actId="20577"/>
        <pc:sldMkLst>
          <pc:docMk/>
          <pc:sldMk cId="1366770195" sldId="260"/>
        </pc:sldMkLst>
        <pc:spChg chg="mod">
          <ac:chgData name="Peter Chapman" userId="c6648ea13a4819e1" providerId="LiveId" clId="{BF9EC2D8-1460-441A-9732-E6910D3CE5BB}" dt="2025-10-28T05:09:00.526" v="892" actId="1076"/>
          <ac:spMkLst>
            <pc:docMk/>
            <pc:sldMk cId="1366770195" sldId="260"/>
            <ac:spMk id="2" creationId="{054924DC-6081-DBFE-F9A6-512C6666E89B}"/>
          </ac:spMkLst>
        </pc:spChg>
        <pc:spChg chg="mod">
          <ac:chgData name="Peter Chapman" userId="c6648ea13a4819e1" providerId="LiveId" clId="{BF9EC2D8-1460-441A-9732-E6910D3CE5BB}" dt="2025-11-01T03:57:46.437" v="3677" actId="20577"/>
          <ac:spMkLst>
            <pc:docMk/>
            <pc:sldMk cId="1366770195" sldId="260"/>
            <ac:spMk id="3" creationId="{1673BAB2-C628-5DF5-5E1C-CD18558B1838}"/>
          </ac:spMkLst>
        </pc:spChg>
      </pc:sldChg>
      <pc:sldChg chg="new del">
        <pc:chgData name="Peter Chapman" userId="c6648ea13a4819e1" providerId="LiveId" clId="{BF9EC2D8-1460-441A-9732-E6910D3CE5BB}" dt="2025-11-01T03:11:33.372" v="904" actId="680"/>
        <pc:sldMkLst>
          <pc:docMk/>
          <pc:sldMk cId="999521544" sldId="261"/>
        </pc:sldMkLst>
      </pc:sldChg>
      <pc:sldChg chg="addSp delSp modSp new mod setBg">
        <pc:chgData name="Peter Chapman" userId="c6648ea13a4819e1" providerId="LiveId" clId="{BF9EC2D8-1460-441A-9732-E6910D3CE5BB}" dt="2025-11-01T03:29:12.583" v="1799" actId="14100"/>
        <pc:sldMkLst>
          <pc:docMk/>
          <pc:sldMk cId="2673381424" sldId="261"/>
        </pc:sldMkLst>
        <pc:spChg chg="mod">
          <ac:chgData name="Peter Chapman" userId="c6648ea13a4819e1" providerId="LiveId" clId="{BF9EC2D8-1460-441A-9732-E6910D3CE5BB}" dt="2025-11-01T03:28:59.285" v="1798" actId="26606"/>
          <ac:spMkLst>
            <pc:docMk/>
            <pc:sldMk cId="2673381424" sldId="261"/>
            <ac:spMk id="2" creationId="{15709B44-8A0F-81F0-60DA-362CEDC9DCF8}"/>
          </ac:spMkLst>
        </pc:spChg>
        <pc:spChg chg="mod">
          <ac:chgData name="Peter Chapman" userId="c6648ea13a4819e1" providerId="LiveId" clId="{BF9EC2D8-1460-441A-9732-E6910D3CE5BB}" dt="2025-11-01T03:29:12.583" v="1799" actId="14100"/>
          <ac:spMkLst>
            <pc:docMk/>
            <pc:sldMk cId="2673381424" sldId="261"/>
            <ac:spMk id="3" creationId="{D05D5589-BFDA-F171-9430-E48F10D9289E}"/>
          </ac:spMkLst>
        </pc:spChg>
        <pc:spChg chg="add del">
          <ac:chgData name="Peter Chapman" userId="c6648ea13a4819e1" providerId="LiveId" clId="{BF9EC2D8-1460-441A-9732-E6910D3CE5BB}" dt="2025-11-01T03:28:59.285" v="1798" actId="26606"/>
          <ac:spMkLst>
            <pc:docMk/>
            <pc:sldMk cId="2673381424" sldId="261"/>
            <ac:spMk id="8" creationId="{0AE80D91-18AA-438F-BFF4-E6BABFDFBABE}"/>
          </ac:spMkLst>
        </pc:spChg>
        <pc:spChg chg="add del">
          <ac:chgData name="Peter Chapman" userId="c6648ea13a4819e1" providerId="LiveId" clId="{BF9EC2D8-1460-441A-9732-E6910D3CE5BB}" dt="2025-11-01T03:28:59.285" v="1798" actId="26606"/>
          <ac:spMkLst>
            <pc:docMk/>
            <pc:sldMk cId="2673381424" sldId="261"/>
            <ac:spMk id="10" creationId="{EF05C5AB-8A34-4DF3-AB54-AD74AA4324E8}"/>
          </ac:spMkLst>
        </pc:spChg>
        <pc:spChg chg="add del">
          <ac:chgData name="Peter Chapman" userId="c6648ea13a4819e1" providerId="LiveId" clId="{BF9EC2D8-1460-441A-9732-E6910D3CE5BB}" dt="2025-11-01T03:28:59.285" v="1798" actId="26606"/>
          <ac:spMkLst>
            <pc:docMk/>
            <pc:sldMk cId="2673381424" sldId="261"/>
            <ac:spMk id="12" creationId="{AA3B856C-9196-4702-BED7-5733C7EAA667}"/>
          </ac:spMkLst>
        </pc:spChg>
      </pc:sldChg>
      <pc:sldChg chg="modSp new mod">
        <pc:chgData name="Peter Chapman" userId="c6648ea13a4819e1" providerId="LiveId" clId="{BF9EC2D8-1460-441A-9732-E6910D3CE5BB}" dt="2025-11-01T03:43:16.224" v="2742" actId="14100"/>
        <pc:sldMkLst>
          <pc:docMk/>
          <pc:sldMk cId="2797886048" sldId="262"/>
        </pc:sldMkLst>
        <pc:spChg chg="mod">
          <ac:chgData name="Peter Chapman" userId="c6648ea13a4819e1" providerId="LiveId" clId="{BF9EC2D8-1460-441A-9732-E6910D3CE5BB}" dt="2025-11-01T03:22:06.169" v="1278" actId="1076"/>
          <ac:spMkLst>
            <pc:docMk/>
            <pc:sldMk cId="2797886048" sldId="262"/>
            <ac:spMk id="2" creationId="{2729BBAA-7339-0C5A-40C1-184341DE019A}"/>
          </ac:spMkLst>
        </pc:spChg>
        <pc:spChg chg="mod">
          <ac:chgData name="Peter Chapman" userId="c6648ea13a4819e1" providerId="LiveId" clId="{BF9EC2D8-1460-441A-9732-E6910D3CE5BB}" dt="2025-11-01T03:43:16.224" v="2742" actId="14100"/>
          <ac:spMkLst>
            <pc:docMk/>
            <pc:sldMk cId="2797886048" sldId="262"/>
            <ac:spMk id="3" creationId="{23ABF9BF-9E9A-D4E5-70A9-A8C8459110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A58BC-68A1-47A5-92C3-CE44A76B73C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7C14B-FFFD-45FD-98CB-8FFD20505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7C14B-FFFD-45FD-98CB-8FFD20505E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75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97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2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4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0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0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8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3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2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4572E54-CD1F-410D-A964-5C07D625581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5BE8DB2-D2D6-4B96-949A-287C1C44C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4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379C-B771-E511-F7C4-E11892F28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1893639"/>
            <a:ext cx="9418320" cy="20133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2024 Run/Pass Variability on 3</a:t>
            </a:r>
            <a:r>
              <a:rPr lang="en-US" sz="3600" baseline="30000" dirty="0"/>
              <a:t>rd</a:t>
            </a:r>
            <a:r>
              <a:rPr lang="en-US" sz="3600" dirty="0"/>
              <a:t>/4</a:t>
            </a:r>
            <a:r>
              <a:rPr lang="en-US" sz="3600" baseline="30000" dirty="0"/>
              <a:t>th</a:t>
            </a:r>
            <a:r>
              <a:rPr lang="en-US" sz="3600" dirty="0"/>
              <a:t> and 2 in the NFL:</a:t>
            </a:r>
            <a:br>
              <a:rPr lang="en-US" sz="3600" dirty="0"/>
            </a:br>
            <a:r>
              <a:rPr lang="en-US" sz="3600" dirty="0"/>
              <a:t>Why Teams Should Look to Increase Variation for First Down Success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FD3CC-9705-53D5-34E4-FCE18039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193771"/>
            <a:ext cx="9418320" cy="16916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By Peter Chapman</a:t>
            </a:r>
          </a:p>
        </p:txBody>
      </p:sp>
    </p:spTree>
    <p:extLst>
      <p:ext uri="{BB962C8B-B14F-4D97-AF65-F5344CB8AC3E}">
        <p14:creationId xmlns:p14="http://schemas.microsoft.com/office/powerpoint/2010/main" val="1197792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9B44-8A0F-81F0-60DA-362CEDC9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Study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5589-BFDA-F171-9430-E48F10D92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36124"/>
            <a:ext cx="8595360" cy="3944013"/>
          </a:xfrm>
        </p:spPr>
        <p:txBody>
          <a:bodyPr/>
          <a:lstStyle/>
          <a:p>
            <a:r>
              <a:rPr lang="en-US" dirty="0"/>
              <a:t>2024 NFL season analysis using Pro Football Focus</a:t>
            </a:r>
          </a:p>
          <a:p>
            <a:r>
              <a:rPr lang="en-US" dirty="0"/>
              <a:t>Situation: 3</a:t>
            </a:r>
            <a:r>
              <a:rPr lang="en-US" baseline="30000" dirty="0"/>
              <a:t>rd</a:t>
            </a:r>
            <a:r>
              <a:rPr lang="en-US" dirty="0"/>
              <a:t> or 4</a:t>
            </a:r>
            <a:r>
              <a:rPr lang="en-US" baseline="30000" dirty="0"/>
              <a:t>th</a:t>
            </a:r>
            <a:r>
              <a:rPr lang="en-US" dirty="0"/>
              <a:t> and 2 on offense</a:t>
            </a:r>
          </a:p>
          <a:p>
            <a:r>
              <a:rPr lang="en-US" dirty="0"/>
              <a:t>Total attempts and 1</a:t>
            </a:r>
            <a:r>
              <a:rPr lang="en-US" baseline="30000" dirty="0"/>
              <a:t>st</a:t>
            </a:r>
            <a:r>
              <a:rPr lang="en-US" dirty="0"/>
              <a:t> down successes tracked for each team</a:t>
            </a:r>
          </a:p>
          <a:p>
            <a:r>
              <a:rPr lang="en-US" dirty="0"/>
              <a:t>Play type (run or pass) marked for each attempt</a:t>
            </a:r>
          </a:p>
          <a:p>
            <a:r>
              <a:rPr lang="en-US" dirty="0"/>
              <a:t>Variation in play type calculated for each NFL team</a:t>
            </a:r>
          </a:p>
          <a:p>
            <a:r>
              <a:rPr lang="en-US" b="1" dirty="0"/>
              <a:t>Research Question</a:t>
            </a:r>
            <a:r>
              <a:rPr lang="en-US" dirty="0"/>
              <a:t>: Does variability in playcalling between running and passing on 3</a:t>
            </a:r>
            <a:r>
              <a:rPr lang="en-US" baseline="30000" dirty="0"/>
              <a:t>rd</a:t>
            </a:r>
            <a:r>
              <a:rPr lang="en-US" dirty="0"/>
              <a:t> or 4</a:t>
            </a:r>
            <a:r>
              <a:rPr lang="en-US" baseline="30000" dirty="0"/>
              <a:t>th</a:t>
            </a:r>
            <a:r>
              <a:rPr lang="en-US" dirty="0"/>
              <a:t> and 2 have a relationship with 1</a:t>
            </a:r>
            <a:r>
              <a:rPr lang="en-US" baseline="30000" dirty="0"/>
              <a:t>st</a:t>
            </a:r>
            <a:r>
              <a:rPr lang="en-US" dirty="0"/>
              <a:t> down conversion percentage?</a:t>
            </a:r>
          </a:p>
        </p:txBody>
      </p:sp>
    </p:spTree>
    <p:extLst>
      <p:ext uri="{BB962C8B-B14F-4D97-AF65-F5344CB8AC3E}">
        <p14:creationId xmlns:p14="http://schemas.microsoft.com/office/powerpoint/2010/main" val="267338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21BC-0160-CAE8-3806-FCDC2332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600538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Run/Pass Entropy and Standardized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241963-546B-71A8-0A9B-8F4FEE7637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2137720"/>
                <a:ext cx="8595360" cy="435133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Team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ABS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RunPercentage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Team</m:t>
                              </m:r>
                            </m:sub>
                          </m:s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RunPercentage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Team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Pass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Percentage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Team</m:t>
                              </m:r>
                            </m:sub>
                          </m:s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latin typeface="Cambria Math" panose="02040503050406030204" pitchFamily="18" charset="0"/>
                                        </a:rPr>
                                        <m:t>Pass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Percentage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Team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StandardizedEntropy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Team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Entropy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Team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Perfect Variability </a:t>
                </a:r>
                <a:r>
                  <a:rPr lang="en-US" sz="2800" dirty="0">
                    <a:sym typeface="Wingdings" panose="05000000000000000000" pitchFamily="2" charset="2"/>
                  </a:rPr>
                  <a:t> Standardized Entropy of 100%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241963-546B-71A8-0A9B-8F4FEE7637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2137720"/>
                <a:ext cx="8595360" cy="4351337"/>
              </a:xfrm>
              <a:blipFill>
                <a:blip r:embed="rId2"/>
                <a:stretch>
                  <a:fillRect l="-1418" b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16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7EF2-6853-E227-99D5-D2AC49C4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43" y="192765"/>
            <a:ext cx="9692640" cy="771062"/>
          </a:xfrm>
        </p:spPr>
        <p:txBody>
          <a:bodyPr/>
          <a:lstStyle/>
          <a:p>
            <a:r>
              <a:rPr lang="en-US" dirty="0"/>
              <a:t>Distribution of Standardized Entropy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0711E-71BF-AC4D-5879-A688FFB34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43" y="1207367"/>
            <a:ext cx="9692640" cy="503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6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EB901-DBA0-898E-0749-8EB4FE8E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246" y="74814"/>
            <a:ext cx="2802194" cy="3690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400" dirty="0">
                <a:solidFill>
                  <a:srgbClr val="FFFFFF"/>
                </a:solidFill>
              </a:rPr>
              <a:t>Simple Linear Regression Between Standardized Entropy and 1st Down Rate</a:t>
            </a: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E6652DF5-DEF9-AF91-C118-40DEEF2FA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494" y="484632"/>
            <a:ext cx="6048585" cy="588224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16EF1F-96BA-BEEF-B3B7-1CEF1B2149B9}"/>
              </a:ext>
            </a:extLst>
          </p:cNvPr>
          <p:cNvSpPr txBox="1"/>
          <p:nvPr/>
        </p:nvSpPr>
        <p:spPr>
          <a:xfrm>
            <a:off x="8322246" y="5839691"/>
            <a:ext cx="2867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R-Squared: 6.98%</a:t>
            </a:r>
          </a:p>
          <a:p>
            <a:r>
              <a:rPr lang="en-US" dirty="0">
                <a:solidFill>
                  <a:schemeClr val="bg1"/>
                </a:solidFill>
              </a:rPr>
              <a:t>P-Value: 0.143906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A8FEA9-C383-4E40-461F-4765AA597B2C}"/>
                  </a:ext>
                </a:extLst>
              </p:cNvPr>
              <p:cNvSpPr txBox="1"/>
              <p:nvPr/>
            </p:nvSpPr>
            <p:spPr>
              <a:xfrm>
                <a:off x="8322246" y="4247802"/>
                <a:ext cx="3160849" cy="1216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𝐹𝑖𝑟𝑠𝑡𝐷𝑜𝑤𝑛𝑅𝑎𝑡𝑒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=0.102944∗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𝑆𝑡𝑎𝑛𝑑𝑎𝑟𝑑𝑖𝑧𝑒𝑑𝐸𝑛𝑡𝑟𝑜𝑝𝑦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+0.460856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A8FEA9-C383-4E40-461F-4765AA597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246" y="4247802"/>
                <a:ext cx="3160849" cy="1216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59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BBAA-7339-0C5A-40C1-184341DE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6" y="290945"/>
            <a:ext cx="10617847" cy="1325562"/>
          </a:xfrm>
        </p:spPr>
        <p:txBody>
          <a:bodyPr/>
          <a:lstStyle/>
          <a:p>
            <a:r>
              <a:rPr lang="en-US" dirty="0"/>
              <a:t>Controlling for Team Offensive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F9BF-9E9A-D4E5-70A9-A8C84591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705" y="2007524"/>
            <a:ext cx="9200527" cy="4172613"/>
          </a:xfrm>
        </p:spPr>
        <p:txBody>
          <a:bodyPr/>
          <a:lstStyle/>
          <a:p>
            <a:r>
              <a:rPr lang="en-US" dirty="0"/>
              <a:t>Is playcalling variation on its own truly correlated with 1</a:t>
            </a:r>
            <a:r>
              <a:rPr lang="en-US" baseline="30000" dirty="0"/>
              <a:t>st</a:t>
            </a:r>
            <a:r>
              <a:rPr lang="en-US" dirty="0"/>
              <a:t> down rate?</a:t>
            </a:r>
          </a:p>
          <a:p>
            <a:r>
              <a:rPr lang="en-US" b="1" dirty="0"/>
              <a:t>Lurking variables</a:t>
            </a:r>
            <a:r>
              <a:rPr lang="en-US" dirty="0"/>
              <a:t>: Other variables not included in the regression that also have an impact on the dependent variable</a:t>
            </a:r>
          </a:p>
          <a:p>
            <a:r>
              <a:rPr lang="en-US" dirty="0"/>
              <a:t>Solution: Control for certain team offensive metrics</a:t>
            </a:r>
          </a:p>
          <a:p>
            <a:pPr lvl="1"/>
            <a:r>
              <a:rPr lang="en-US" dirty="0"/>
              <a:t>Pass Grade</a:t>
            </a:r>
          </a:p>
          <a:p>
            <a:pPr lvl="1"/>
            <a:r>
              <a:rPr lang="en-US" dirty="0"/>
              <a:t>Pass Block Grade</a:t>
            </a:r>
          </a:p>
          <a:p>
            <a:pPr lvl="1"/>
            <a:r>
              <a:rPr lang="en-US" dirty="0"/>
              <a:t>Receiving Grade</a:t>
            </a:r>
          </a:p>
          <a:p>
            <a:pPr lvl="1"/>
            <a:r>
              <a:rPr lang="en-US" dirty="0"/>
              <a:t>Rush Grade</a:t>
            </a:r>
          </a:p>
          <a:p>
            <a:pPr lvl="1"/>
            <a:r>
              <a:rPr lang="en-US" dirty="0"/>
              <a:t>Rush Block Grade</a:t>
            </a:r>
          </a:p>
          <a:p>
            <a:r>
              <a:rPr lang="en-US" dirty="0"/>
              <a:t>With controls, true effect of variability on 1</a:t>
            </a:r>
            <a:r>
              <a:rPr lang="en-US" baseline="30000" dirty="0"/>
              <a:t>st</a:t>
            </a:r>
            <a:r>
              <a:rPr lang="en-US" dirty="0"/>
              <a:t> down rate can be determined</a:t>
            </a:r>
          </a:p>
          <a:p>
            <a:r>
              <a:rPr lang="en-US" dirty="0"/>
              <a:t>Relevant predictors will be kept in the model</a:t>
            </a:r>
          </a:p>
        </p:txBody>
      </p:sp>
    </p:spTree>
    <p:extLst>
      <p:ext uri="{BB962C8B-B14F-4D97-AF65-F5344CB8AC3E}">
        <p14:creationId xmlns:p14="http://schemas.microsoft.com/office/powerpoint/2010/main" val="279788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24DC-6081-DBFE-F9A6-512C6666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06" y="619245"/>
            <a:ext cx="10857053" cy="765347"/>
          </a:xfrm>
        </p:spPr>
        <p:txBody>
          <a:bodyPr/>
          <a:lstStyle/>
          <a:p>
            <a:r>
              <a:rPr lang="en-US" dirty="0"/>
              <a:t>Multiple Linear Regression with Controls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3BAB2-C628-5DF5-5E1C-CD18558B1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5706" y="1782305"/>
                <a:ext cx="10857052" cy="439783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𝐹𝑖𝑟𝑠𝑡𝐷𝑜𝑤𝑛𝑅𝑎𝑡𝑒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77177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𝑆𝑡𝑎𝑛𝑑𝑎𝑟𝑑𝑖𝑧𝑒𝑑𝐸𝑛𝑡𝑟𝑜𝑝𝑦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0.004003∗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𝑃𝑎𝑠𝑠𝐺𝑟𝑎𝑑𝑒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+0.001790∗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𝑅𝑒𝑐𝑒𝑖𝑣𝑖𝑛𝑔𝐺𝑟𝑎𝑑𝑒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−0.001320∗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𝑃𝑎𝑠𝑠𝐵𝑙𝑜𝑐𝑘𝐺𝑟𝑎𝑑𝑒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−0.003032∗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𝑅𝑢𝑠h𝐺𝑟𝑎𝑑𝑒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+0.002813∗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𝑅𝑢𝑛𝐵𝑙𝑜𝑐𝑘𝐺𝑟𝑎𝑑𝑒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+0.074973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New R-Squared: 38.7375%</a:t>
                </a:r>
              </a:p>
              <a:p>
                <a:r>
                  <a:rPr lang="en-US" dirty="0"/>
                  <a:t>New P-Value for Standardized Entropy: 0.02046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Relevant Predictors: Pass Grade, Run Block Grade, Standardized Entropy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Predictors to Remove: Recei</a:t>
                </a:r>
                <a:r>
                  <a:rPr lang="en-US" dirty="0"/>
                  <a:t>ving Grade, Pass Block Grade, Rush Grade</a:t>
                </a:r>
              </a:p>
              <a:p>
                <a:r>
                  <a:rPr lang="en-US" dirty="0"/>
                  <a:t>Conclusions</a:t>
                </a:r>
              </a:p>
              <a:p>
                <a:pPr lvl="1"/>
                <a:r>
                  <a:rPr lang="en-US" dirty="0"/>
                  <a:t>Multiple linear regression removed some lurking variable bias</a:t>
                </a:r>
              </a:p>
              <a:p>
                <a:pPr lvl="1"/>
                <a:r>
                  <a:rPr lang="en-US" dirty="0"/>
                  <a:t>Estimate for standardized entropy grew </a:t>
                </a:r>
                <a:r>
                  <a:rPr lang="en-US" dirty="0">
                    <a:sym typeface="Wingdings" panose="05000000000000000000" pitchFamily="2" charset="2"/>
                  </a:rPr>
                  <a:t> strong relationship with 1</a:t>
                </a:r>
                <a:r>
                  <a:rPr lang="en-US" baseline="30000" dirty="0">
                    <a:sym typeface="Wingdings" panose="05000000000000000000" pitchFamily="2" charset="2"/>
                  </a:rPr>
                  <a:t>st</a:t>
                </a:r>
                <a:r>
                  <a:rPr lang="en-US" dirty="0">
                    <a:sym typeface="Wingdings" panose="05000000000000000000" pitchFamily="2" charset="2"/>
                  </a:rPr>
                  <a:t> down percentage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Variability can be beneficial for converting on 3</a:t>
                </a:r>
                <a:r>
                  <a:rPr lang="en-US" baseline="30000" dirty="0">
                    <a:sym typeface="Wingdings" panose="05000000000000000000" pitchFamily="2" charset="2"/>
                  </a:rPr>
                  <a:t>rd</a:t>
                </a:r>
                <a:r>
                  <a:rPr lang="en-US" dirty="0">
                    <a:sym typeface="Wingdings" panose="05000000000000000000" pitchFamily="2" charset="2"/>
                  </a:rPr>
                  <a:t> or 4</a:t>
                </a:r>
                <a:r>
                  <a:rPr lang="en-US" baseline="30000" dirty="0">
                    <a:sym typeface="Wingdings" panose="05000000000000000000" pitchFamily="2" charset="2"/>
                  </a:rPr>
                  <a:t>th</a:t>
                </a:r>
                <a:r>
                  <a:rPr lang="en-US" dirty="0">
                    <a:sym typeface="Wingdings" panose="05000000000000000000" pitchFamily="2" charset="2"/>
                  </a:rPr>
                  <a:t> and 2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3BAB2-C628-5DF5-5E1C-CD18558B1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706" y="1782305"/>
                <a:ext cx="10857052" cy="4397832"/>
              </a:xfrm>
              <a:blipFill>
                <a:blip r:embed="rId2"/>
                <a:stretch>
                  <a:fillRect l="-112" t="-277" b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77019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113</TotalTime>
  <Words>343</Words>
  <Application>Microsoft Office PowerPoint</Application>
  <PresentationFormat>Widescreen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Cambria Math</vt:lpstr>
      <vt:lpstr>Century Schoolbook</vt:lpstr>
      <vt:lpstr>Wingdings</vt:lpstr>
      <vt:lpstr>Wingdings 2</vt:lpstr>
      <vt:lpstr>View</vt:lpstr>
      <vt:lpstr>2024 Run/Pass Variability on 3rd/4th and 2 in the NFL: Why Teams Should Look to Increase Variation for First Down Success Rate</vt:lpstr>
      <vt:lpstr>Research Study Overview</vt:lpstr>
      <vt:lpstr>Run/Pass Entropy and Standardized Entropy</vt:lpstr>
      <vt:lpstr>Distribution of Standardized Entropy</vt:lpstr>
      <vt:lpstr>Simple Linear Regression Between Standardized Entropy and 1st Down Rate</vt:lpstr>
      <vt:lpstr>Controlling for Team Offensive Grades</vt:lpstr>
      <vt:lpstr>Multiple Linear Regression with Controls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Chapman</dc:creator>
  <cp:lastModifiedBy>Peter Chapman</cp:lastModifiedBy>
  <cp:revision>1</cp:revision>
  <dcterms:created xsi:type="dcterms:W3CDTF">2025-10-28T04:02:53Z</dcterms:created>
  <dcterms:modified xsi:type="dcterms:W3CDTF">2025-11-01T03:57:50Z</dcterms:modified>
</cp:coreProperties>
</file>